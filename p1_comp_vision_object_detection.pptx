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734"/>
    <p:restoredTop sz="94719"/>
  </p:normalViewPr>
  <p:slideViewPr>
    <p:cSldViewPr snapToGrid="0" snapToObjects="1">
      <p:cViewPr varScale="1">
        <p:scale>
          <a:sx n="123" d="100"/>
          <a:sy n="123" d="100"/>
        </p:scale>
        <p:origin x="2000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5B93AA-FE85-3343-BE44-A3632D8418D6}" type="datetimeFigureOut">
              <a:rPr lang="en-US" smtClean="0"/>
              <a:t>4/20/26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6B67B5-B4C0-C445-A60F-16AE1F6517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7075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6B67B5-B4C0-C445-A60F-16AE1F6517F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79840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4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ccentBar"/>
          <p:cNvSpPr>
            <a:spLocks noGrp="1"/>
          </p:cNvSpPr>
          <p:nvPr/>
        </p:nvSpPr>
        <p:spPr>
          <a:xfrm>
            <a:off x="457200" y="1371600"/>
            <a:ext cx="91440" cy="2743200"/>
          </a:xfrm>
          <a:prstGeom prst="rect">
            <a:avLst/>
          </a:prstGeom>
          <a:solidFill>
            <a:srgbClr val="2E6DB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371600"/>
            <a:ext cx="8229600" cy="1143000"/>
          </a:xfrm>
        </p:spPr>
        <p:txBody>
          <a:bodyPr anchor="ctr"/>
          <a:lstStyle/>
          <a:p>
            <a:r>
              <a:rPr lang="en-US" sz="4400" b="1" dirty="0">
                <a:solidFill>
                  <a:srgbClr val="0F2A4A"/>
                </a:solidFill>
                <a:latin typeface="Calibri"/>
              </a:rPr>
              <a:t>License Plate Detection Project</a:t>
            </a:r>
          </a:p>
        </p:txBody>
      </p:sp>
      <p:sp>
        <p:nvSpPr>
          <p:cNvPr id="3" name="Subtitle"/>
          <p:cNvSpPr>
            <a:spLocks noGrp="1"/>
          </p:cNvSpPr>
          <p:nvPr>
            <p:ph idx="1"/>
          </p:nvPr>
        </p:nvSpPr>
        <p:spPr>
          <a:xfrm>
            <a:off x="685800" y="2590800"/>
            <a:ext cx="8229600" cy="685800"/>
          </a:xfrm>
        </p:spPr>
        <p:txBody>
          <a:bodyPr anchor="t"/>
          <a:lstStyle/>
          <a:p>
            <a:pPr>
              <a:buNone/>
            </a:pPr>
            <a:r>
              <a:rPr lang="en-US" sz="2000" b="0" dirty="0">
                <a:solidFill>
                  <a:srgbClr val="2E6DB4"/>
                </a:solidFill>
                <a:latin typeface="Calibri"/>
              </a:rPr>
              <a:t>Classical Computer Vision vs YOLO Deep Learning</a:t>
            </a:r>
          </a:p>
          <a:p>
            <a:pPr>
              <a:buNone/>
            </a:pPr>
            <a:endParaRPr lang="en-US" sz="2000" b="0" dirty="0">
              <a:solidFill>
                <a:srgbClr val="2E6DB4"/>
              </a:solidFill>
              <a:latin typeface="Calibri"/>
            </a:endParaRPr>
          </a:p>
        </p:txBody>
      </p:sp>
      <p:sp>
        <p:nvSpPr>
          <p:cNvPr id="4" name="Author"/>
          <p:cNvSpPr>
            <a:spLocks noGrp="1"/>
          </p:cNvSpPr>
          <p:nvPr/>
        </p:nvSpPr>
        <p:spPr>
          <a:xfrm>
            <a:off x="685800" y="335280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r>
              <a:rPr lang="en-US" sz="1600" b="0" dirty="0">
                <a:solidFill>
                  <a:srgbClr val="5A7A9A"/>
                </a:solidFill>
                <a:latin typeface="Calibri"/>
              </a:rPr>
              <a:t>Presented by Hamida Hagverdiyeva</a:t>
            </a:r>
          </a:p>
        </p:txBody>
      </p:sp>
      <p:sp>
        <p:nvSpPr>
          <p:cNvPr id="5" name="FooterBar"/>
          <p:cNvSpPr>
            <a:spLocks noGrp="1"/>
          </p:cNvSpPr>
          <p:nvPr/>
        </p:nvSpPr>
        <p:spPr>
          <a:xfrm>
            <a:off x="457200" y="5943600"/>
            <a:ext cx="8686800" cy="457200"/>
          </a:xfrm>
          <a:prstGeom prst="rect">
            <a:avLst/>
          </a:prstGeom>
          <a:solidFill>
            <a:srgbClr val="6B9FD4"/>
          </a:solidFill>
          <a:ln>
            <a:noFill/>
          </a:ln>
        </p:spPr>
        <p:txBody>
          <a:bodyPr anchor="ctr"/>
          <a:lstStyle/>
          <a:p>
            <a:pPr algn="ctr"/>
            <a:r>
              <a:rPr lang="en-US" sz="1200" b="0" dirty="0">
                <a:solidFill>
                  <a:srgbClr val="2E6DB4"/>
                </a:solidFill>
                <a:latin typeface="Calibri"/>
              </a:rPr>
              <a:t>Computer Vision</a:t>
            </a:r>
          </a:p>
        </p:txBody>
      </p:sp>
      <p:sp>
        <p:nvSpPr>
          <p:cNvPr id="6" name="Author">
            <a:extLst>
              <a:ext uri="{FF2B5EF4-FFF2-40B4-BE49-F238E27FC236}">
                <a16:creationId xmlns:a16="http://schemas.microsoft.com/office/drawing/2014/main" id="{0DA0587A-3DB9-9E93-2503-0DA2C2E77F7A}"/>
              </a:ext>
            </a:extLst>
          </p:cNvPr>
          <p:cNvSpPr>
            <a:spLocks noGrp="1"/>
          </p:cNvSpPr>
          <p:nvPr/>
        </p:nvSpPr>
        <p:spPr>
          <a:xfrm>
            <a:off x="548640" y="4419600"/>
            <a:ext cx="8229600" cy="762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r>
              <a:rPr lang="en-US" dirty="0"/>
              <a:t>This project is about detecting license plates using classical computer vision and deep learning methods like YOLO. The goal is to compare their performance in real-world conditions.</a:t>
            </a:r>
            <a:endParaRPr lang="en-US" sz="1600" b="0" dirty="0">
              <a:solidFill>
                <a:srgbClr val="5A7A9A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4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Bg"/>
          <p:cNvSpPr>
            <a:spLocks noGrp="1"/>
          </p:cNvSpPr>
          <p:nvPr/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6B9FD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 anchor="ctr"/>
          <a:lstStyle/>
          <a:p>
            <a:r>
              <a:rPr lang="en-US" sz="3200" b="1" dirty="0">
                <a:solidFill>
                  <a:srgbClr val="0F2A4A"/>
                </a:solidFill>
                <a:latin typeface="Calibri"/>
              </a:rPr>
              <a:t>Project Objective</a:t>
            </a:r>
          </a:p>
        </p:txBody>
      </p:sp>
      <p:sp>
        <p:nvSpPr>
          <p:cNvPr id="20" name="Card1"/>
          <p:cNvSpPr>
            <a:spLocks noGrp="1"/>
          </p:cNvSpPr>
          <p:nvPr/>
        </p:nvSpPr>
        <p:spPr>
          <a:xfrm>
            <a:off x="457200" y="1280000"/>
            <a:ext cx="8229600" cy="914400"/>
          </a:xfrm>
          <a:prstGeom prst="rect">
            <a:avLst/>
          </a:prstGeom>
          <a:solidFill>
            <a:srgbClr val="DDEAF7"/>
          </a:solidFill>
          <a:ln w="19050">
            <a:solidFill>
              <a:srgbClr val="2E6DB4"/>
            </a:solidFill>
          </a:ln>
        </p:spPr>
        <p:txBody>
          <a:bodyPr lIns="228600" tIns="114300" rIns="228600" bIns="114300" anchor="ctr"/>
          <a:lstStyle/>
          <a:p>
            <a:r>
              <a:rPr lang="en-US" sz="1800" b="1" dirty="0">
                <a:solidFill>
                  <a:srgbClr val="2E6DB4"/>
                </a:solidFill>
                <a:latin typeface="Calibri"/>
              </a:rPr>
              <a:t>01  Detect License Plates</a:t>
            </a:r>
          </a:p>
          <a:p>
            <a:r>
              <a:rPr lang="en-US" sz="1400" b="0" dirty="0">
                <a:solidFill>
                  <a:srgbClr val="2A4A6A"/>
                </a:solidFill>
                <a:latin typeface="Calibri"/>
              </a:rPr>
              <a:t>Automatically locate and extract license plates from still images and video frames in real time.</a:t>
            </a:r>
          </a:p>
        </p:txBody>
      </p:sp>
      <p:sp>
        <p:nvSpPr>
          <p:cNvPr id="21" name="Card2"/>
          <p:cNvSpPr>
            <a:spLocks noGrp="1"/>
          </p:cNvSpPr>
          <p:nvPr/>
        </p:nvSpPr>
        <p:spPr>
          <a:xfrm>
            <a:off x="457200" y="2285000"/>
            <a:ext cx="8229600" cy="914400"/>
          </a:xfrm>
          <a:prstGeom prst="rect">
            <a:avLst/>
          </a:prstGeom>
          <a:solidFill>
            <a:srgbClr val="DDEAF7"/>
          </a:solidFill>
          <a:ln w="19050">
            <a:solidFill>
              <a:srgbClr val="2E6DB4"/>
            </a:solidFill>
          </a:ln>
        </p:spPr>
        <p:txBody>
          <a:bodyPr lIns="228600" tIns="114300" rIns="228600" bIns="114300" anchor="ctr"/>
          <a:lstStyle/>
          <a:p>
            <a:r>
              <a:rPr lang="en-US" sz="1800" b="1" dirty="0">
                <a:solidFill>
                  <a:srgbClr val="2E6DB4"/>
                </a:solidFill>
                <a:latin typeface="Calibri"/>
              </a:rPr>
              <a:t>02  Implement Two Approaches</a:t>
            </a:r>
          </a:p>
          <a:p>
            <a:r>
              <a:rPr lang="en-US" sz="1400" b="0" dirty="0">
                <a:solidFill>
                  <a:srgbClr val="2A4A6A"/>
                </a:solidFill>
                <a:latin typeface="Calibri"/>
              </a:rPr>
              <a:t>Build and test both a Classical image processing pipeline and a YOLO deep learning model side by side.</a:t>
            </a:r>
          </a:p>
        </p:txBody>
      </p:sp>
      <p:sp>
        <p:nvSpPr>
          <p:cNvPr id="22" name="Card3"/>
          <p:cNvSpPr>
            <a:spLocks noGrp="1"/>
          </p:cNvSpPr>
          <p:nvPr/>
        </p:nvSpPr>
        <p:spPr>
          <a:xfrm>
            <a:off x="457200" y="3290000"/>
            <a:ext cx="8229600" cy="914400"/>
          </a:xfrm>
          <a:prstGeom prst="rect">
            <a:avLst/>
          </a:prstGeom>
          <a:solidFill>
            <a:srgbClr val="DDEAF7"/>
          </a:solidFill>
          <a:ln w="19050">
            <a:solidFill>
              <a:srgbClr val="2E6DB4"/>
            </a:solidFill>
          </a:ln>
        </p:spPr>
        <p:txBody>
          <a:bodyPr lIns="228600" tIns="114300" rIns="228600" bIns="114300" anchor="ctr"/>
          <a:lstStyle/>
          <a:p>
            <a:r>
              <a:rPr lang="en-US" sz="1800" b="1" dirty="0">
                <a:solidFill>
                  <a:srgbClr val="2E6DB4"/>
                </a:solidFill>
                <a:latin typeface="Calibri"/>
              </a:rPr>
              <a:t>03  Compare Performance</a:t>
            </a:r>
          </a:p>
          <a:p>
            <a:r>
              <a:rPr lang="en-US" sz="1400" b="0" dirty="0">
                <a:solidFill>
                  <a:srgbClr val="2A4A6A"/>
                </a:solidFill>
                <a:latin typeface="Calibri"/>
              </a:rPr>
              <a:t>Evaluate accuracy, speed, and robustness under challenging real-world conditions such as noise, lighting, and angles.</a:t>
            </a:r>
          </a:p>
        </p:txBody>
      </p:sp>
      <p:sp>
        <p:nvSpPr>
          <p:cNvPr id="30" name="Note"/>
          <p:cNvSpPr>
            <a:spLocks noGrp="1"/>
          </p:cNvSpPr>
          <p:nvPr/>
        </p:nvSpPr>
        <p:spPr>
          <a:xfrm>
            <a:off x="457200" y="4390000"/>
            <a:ext cx="8229600" cy="600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ctr"/>
            <a:r>
              <a:rPr lang="en-US" sz="1300" b="0" i="1" dirty="0">
                <a:solidFill>
                  <a:srgbClr val="4A6A8A"/>
                </a:solidFill>
                <a:latin typeface="Calibri"/>
              </a:rPr>
              <a:t>Number Plate Recognition</a:t>
            </a:r>
            <a:r>
              <a:rPr lang="en-US" sz="1300" i="1" dirty="0">
                <a:solidFill>
                  <a:srgbClr val="4A6A8A"/>
                </a:solidFill>
                <a:latin typeface="Calibri"/>
              </a:rPr>
              <a:t> </a:t>
            </a:r>
            <a:r>
              <a:rPr lang="en-US" sz="1300" b="0" i="1" dirty="0">
                <a:solidFill>
                  <a:srgbClr val="4A6A8A"/>
                </a:solidFill>
                <a:latin typeface="Calibri"/>
              </a:rPr>
              <a:t>is widely used in traffic management, parking, and law enforcement.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4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Bg"/>
          <p:cNvSpPr>
            <a:spLocks noGrp="1"/>
          </p:cNvSpPr>
          <p:nvPr/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6B9FD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 anchor="ctr"/>
          <a:lstStyle/>
          <a:p>
            <a:r>
              <a:rPr lang="en-US" sz="3200" b="1" dirty="0">
                <a:solidFill>
                  <a:srgbClr val="0F2A4A"/>
                </a:solidFill>
                <a:latin typeface="Calibri"/>
              </a:rPr>
              <a:t>Classical Method —&gt; How It Works</a:t>
            </a:r>
          </a:p>
        </p:txBody>
      </p:sp>
      <p:sp>
        <p:nvSpPr>
          <p:cNvPr id="3" name="Intro"/>
          <p:cNvSpPr>
            <a:spLocks noGrp="1"/>
          </p:cNvSpPr>
          <p:nvPr/>
        </p:nvSpPr>
        <p:spPr>
          <a:xfrm>
            <a:off x="349828" y="1333389"/>
            <a:ext cx="8229600" cy="887478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r>
              <a:rPr lang="en-US" sz="1400" dirty="0">
                <a:solidFill>
                  <a:srgbClr val="2A4A6A"/>
                </a:solidFill>
                <a:latin typeface="Calibri"/>
              </a:rPr>
              <a:t>The classical method is rule-based</a:t>
            </a:r>
            <a:r>
              <a:rPr lang="en-US" dirty="0"/>
              <a:t>. </a:t>
            </a:r>
            <a:r>
              <a:rPr lang="en-US" sz="1400" b="0" dirty="0">
                <a:solidFill>
                  <a:srgbClr val="2A4A6A"/>
                </a:solidFill>
                <a:latin typeface="Calibri"/>
              </a:rPr>
              <a:t>A rule-based pipeline that uses traditional image processing techniques to find rectangular plate regions. </a:t>
            </a:r>
            <a:r>
              <a:rPr lang="en-US" sz="1400" dirty="0">
                <a:solidFill>
                  <a:srgbClr val="2A4A6A"/>
                </a:solidFill>
                <a:latin typeface="Calibri"/>
              </a:rPr>
              <a:t>We convert image to grayscale, apply blur, detect edges, then find contours</a:t>
            </a:r>
            <a:r>
              <a:rPr lang="en-US" dirty="0"/>
              <a:t>. </a:t>
            </a:r>
            <a:r>
              <a:rPr lang="en-US" sz="1400" dirty="0">
                <a:solidFill>
                  <a:srgbClr val="2A4A6A"/>
                </a:solidFill>
                <a:latin typeface="Calibri"/>
              </a:rPr>
              <a:t>Finally, we filter shapes that look like license plates.</a:t>
            </a:r>
          </a:p>
        </p:txBody>
      </p:sp>
      <p:sp>
        <p:nvSpPr>
          <p:cNvPr id="20" name="Step1"/>
          <p:cNvSpPr>
            <a:spLocks noGrp="1"/>
          </p:cNvSpPr>
          <p:nvPr/>
        </p:nvSpPr>
        <p:spPr>
          <a:xfrm>
            <a:off x="457200" y="2511116"/>
            <a:ext cx="3810000" cy="760000"/>
          </a:xfrm>
          <a:prstGeom prst="rect">
            <a:avLst/>
          </a:prstGeom>
          <a:solidFill>
            <a:srgbClr val="DDEAF7"/>
          </a:solidFill>
          <a:ln w="19050">
            <a:solidFill>
              <a:srgbClr val="2E6DB4"/>
            </a:solidFill>
          </a:ln>
        </p:spPr>
        <p:txBody>
          <a:bodyPr lIns="182880" tIns="91440" bIns="91440" anchor="ctr"/>
          <a:lstStyle/>
          <a:p>
            <a:r>
              <a:rPr lang="en-US" sz="1600" b="1" dirty="0">
                <a:solidFill>
                  <a:srgbClr val="2E6DB4"/>
                </a:solidFill>
                <a:latin typeface="Calibri"/>
              </a:rPr>
              <a:t>1. Grayscale Conversion</a:t>
            </a:r>
          </a:p>
          <a:p>
            <a:r>
              <a:rPr lang="en-US" sz="1200" b="0" dirty="0">
                <a:solidFill>
                  <a:srgbClr val="2A4A6A"/>
                </a:solidFill>
                <a:latin typeface="Calibri"/>
              </a:rPr>
              <a:t>Converts RGB to single-channel to simplify processing.</a:t>
            </a:r>
          </a:p>
        </p:txBody>
      </p:sp>
      <p:sp>
        <p:nvSpPr>
          <p:cNvPr id="21" name="Step2"/>
          <p:cNvSpPr>
            <a:spLocks noGrp="1"/>
          </p:cNvSpPr>
          <p:nvPr/>
        </p:nvSpPr>
        <p:spPr>
          <a:xfrm>
            <a:off x="4572000" y="2511116"/>
            <a:ext cx="4114800" cy="760000"/>
          </a:xfrm>
          <a:prstGeom prst="rect">
            <a:avLst/>
          </a:prstGeom>
          <a:solidFill>
            <a:srgbClr val="DDEAF7"/>
          </a:solidFill>
          <a:ln w="19050">
            <a:solidFill>
              <a:srgbClr val="2E6DB4"/>
            </a:solidFill>
          </a:ln>
        </p:spPr>
        <p:txBody>
          <a:bodyPr lIns="182880" tIns="91440" bIns="91440" anchor="ctr"/>
          <a:lstStyle/>
          <a:p>
            <a:r>
              <a:rPr lang="en-US" sz="1600" b="1" dirty="0">
                <a:solidFill>
                  <a:srgbClr val="2E6DB4"/>
                </a:solidFill>
                <a:latin typeface="Calibri"/>
              </a:rPr>
              <a:t>2. Gaussian Blur</a:t>
            </a:r>
          </a:p>
          <a:p>
            <a:r>
              <a:rPr lang="en-US" sz="1200" b="0" dirty="0">
                <a:solidFill>
                  <a:srgbClr val="2A4A6A"/>
                </a:solidFill>
                <a:latin typeface="Calibri"/>
              </a:rPr>
              <a:t>Smooths the image to reduce noise and fine texture.</a:t>
            </a:r>
          </a:p>
        </p:txBody>
      </p:sp>
      <p:sp>
        <p:nvSpPr>
          <p:cNvPr id="22" name="Step3"/>
          <p:cNvSpPr>
            <a:spLocks noGrp="1"/>
          </p:cNvSpPr>
          <p:nvPr/>
        </p:nvSpPr>
        <p:spPr>
          <a:xfrm>
            <a:off x="457200" y="3361116"/>
            <a:ext cx="3810000" cy="760000"/>
          </a:xfrm>
          <a:prstGeom prst="rect">
            <a:avLst/>
          </a:prstGeom>
          <a:solidFill>
            <a:srgbClr val="DDEAF7"/>
          </a:solidFill>
          <a:ln w="19050">
            <a:solidFill>
              <a:srgbClr val="2E6DB4"/>
            </a:solidFill>
          </a:ln>
        </p:spPr>
        <p:txBody>
          <a:bodyPr lIns="182880" tIns="91440" bIns="91440" anchor="ctr"/>
          <a:lstStyle/>
          <a:p>
            <a:r>
              <a:rPr lang="en-US" sz="1600" b="1" dirty="0">
                <a:solidFill>
                  <a:srgbClr val="2E6DB4"/>
                </a:solidFill>
                <a:latin typeface="Calibri"/>
              </a:rPr>
              <a:t>3. Canny Edge Detection</a:t>
            </a:r>
          </a:p>
          <a:p>
            <a:r>
              <a:rPr lang="en-US" sz="1200" b="0" dirty="0">
                <a:solidFill>
                  <a:srgbClr val="2A4A6A"/>
                </a:solidFill>
                <a:latin typeface="Calibri"/>
              </a:rPr>
              <a:t>Finds sharp boundaries that outline plate edges.</a:t>
            </a:r>
          </a:p>
        </p:txBody>
      </p:sp>
      <p:sp>
        <p:nvSpPr>
          <p:cNvPr id="23" name="Step4"/>
          <p:cNvSpPr>
            <a:spLocks noGrp="1"/>
          </p:cNvSpPr>
          <p:nvPr/>
        </p:nvSpPr>
        <p:spPr>
          <a:xfrm>
            <a:off x="4572000" y="3361116"/>
            <a:ext cx="4114800" cy="760000"/>
          </a:xfrm>
          <a:prstGeom prst="rect">
            <a:avLst/>
          </a:prstGeom>
          <a:solidFill>
            <a:srgbClr val="DDEAF7"/>
          </a:solidFill>
          <a:ln w="19050">
            <a:solidFill>
              <a:srgbClr val="2E6DB4"/>
            </a:solidFill>
          </a:ln>
        </p:spPr>
        <p:txBody>
          <a:bodyPr lIns="182880" tIns="91440" bIns="91440" anchor="ctr"/>
          <a:lstStyle/>
          <a:p>
            <a:r>
              <a:rPr lang="en-US" sz="1600" b="1" dirty="0">
                <a:solidFill>
                  <a:srgbClr val="2E6DB4"/>
                </a:solidFill>
                <a:latin typeface="Calibri"/>
              </a:rPr>
              <a:t>4. Contour Detection</a:t>
            </a:r>
          </a:p>
          <a:p>
            <a:r>
              <a:rPr lang="en-US" sz="1200" b="0" dirty="0">
                <a:solidFill>
                  <a:srgbClr val="2A4A6A"/>
                </a:solidFill>
                <a:latin typeface="Calibri"/>
              </a:rPr>
              <a:t>Extracts closed shapes (contours) from the edge map.</a:t>
            </a:r>
          </a:p>
        </p:txBody>
      </p:sp>
      <p:sp>
        <p:nvSpPr>
          <p:cNvPr id="24" name="Step5"/>
          <p:cNvSpPr>
            <a:spLocks noGrp="1"/>
          </p:cNvSpPr>
          <p:nvPr/>
        </p:nvSpPr>
        <p:spPr>
          <a:xfrm>
            <a:off x="457200" y="4211116"/>
            <a:ext cx="8229600" cy="760000"/>
          </a:xfrm>
          <a:prstGeom prst="rect">
            <a:avLst/>
          </a:prstGeom>
          <a:solidFill>
            <a:srgbClr val="6B9FD4"/>
          </a:solidFill>
          <a:ln w="19050">
            <a:solidFill>
              <a:srgbClr val="2E6DB4"/>
            </a:solidFill>
          </a:ln>
        </p:spPr>
        <p:txBody>
          <a:bodyPr lIns="182880" tIns="91440" bIns="91440" anchor="ctr"/>
          <a:lstStyle/>
          <a:p>
            <a:r>
              <a:rPr lang="en-US" sz="1600" b="1" dirty="0">
                <a:solidFill>
                  <a:srgbClr val="2E6DB4"/>
                </a:solidFill>
                <a:latin typeface="Calibri"/>
              </a:rPr>
              <a:t>5. Shape Filtering (Aspect Ratio + Area)</a:t>
            </a:r>
          </a:p>
          <a:p>
            <a:r>
              <a:rPr lang="en-US" sz="1200" b="0" dirty="0">
                <a:solidFill>
                  <a:srgbClr val="2A4A6A"/>
                </a:solidFill>
                <a:latin typeface="Calibri"/>
              </a:rPr>
              <a:t>Keeps only contours matching typical plate proportions (wide rectangle), discarding everything else.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4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Bg"/>
          <p:cNvSpPr>
            <a:spLocks noGrp="1"/>
          </p:cNvSpPr>
          <p:nvPr/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6B9FD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 anchor="ctr"/>
          <a:lstStyle/>
          <a:p>
            <a:r>
              <a:rPr lang="en-US" sz="3200" b="1" dirty="0">
                <a:solidFill>
                  <a:srgbClr val="0F2A4A"/>
                </a:solidFill>
                <a:latin typeface="Calibri"/>
              </a:rPr>
              <a:t>Classical Method — Successful Detection</a:t>
            </a:r>
          </a:p>
        </p:txBody>
      </p:sp>
      <p:sp>
        <p:nvSpPr>
          <p:cNvPr id="20" name="ExplBox"/>
          <p:cNvSpPr>
            <a:spLocks noGrp="1"/>
          </p:cNvSpPr>
          <p:nvPr/>
        </p:nvSpPr>
        <p:spPr>
          <a:xfrm>
            <a:off x="5486400" y="1182028"/>
            <a:ext cx="3200400" cy="3596389"/>
          </a:xfrm>
          <a:prstGeom prst="rect">
            <a:avLst/>
          </a:prstGeom>
          <a:solidFill>
            <a:srgbClr val="DDEAF7"/>
          </a:solidFill>
          <a:ln w="19050">
            <a:solidFill>
              <a:srgbClr val="2A7A3A"/>
            </a:solidFill>
          </a:ln>
        </p:spPr>
        <p:txBody>
          <a:bodyPr lIns="182880" tIns="182880" rIns="182880" bIns="182880" anchor="t"/>
          <a:lstStyle/>
          <a:p>
            <a:r>
              <a:rPr lang="en-US" sz="1600" b="1" dirty="0">
                <a:solidFill>
                  <a:srgbClr val="2A7A3A"/>
                </a:solidFill>
                <a:latin typeface="Calibri"/>
              </a:rPr>
              <a:t>Why It Worked</a:t>
            </a:r>
          </a:p>
          <a:p>
            <a:endParaRPr dirty="0"/>
          </a:p>
          <a:p>
            <a:r>
              <a:rPr lang="en-US" sz="1300" b="0" dirty="0">
                <a:solidFill>
                  <a:srgbClr val="2A4A6A"/>
                </a:solidFill>
                <a:latin typeface="Calibri"/>
              </a:rPr>
              <a:t>The license plate is clearly visible with strong rectangular contrast against the car body.</a:t>
            </a:r>
          </a:p>
          <a:p>
            <a:endParaRPr dirty="0"/>
          </a:p>
          <a:p>
            <a:r>
              <a:rPr lang="en-US" sz="1300" b="0" dirty="0">
                <a:solidFill>
                  <a:srgbClr val="2A4A6A"/>
                </a:solidFill>
                <a:latin typeface="Calibri"/>
              </a:rPr>
              <a:t>Good lighting and no obstructions allow Canny edges to perfectly outline the plate boundary. </a:t>
            </a:r>
          </a:p>
          <a:p>
            <a:endParaRPr lang="en-US" sz="1300" b="0" dirty="0">
              <a:solidFill>
                <a:srgbClr val="2A4A6A"/>
              </a:solidFill>
              <a:latin typeface="Calibri"/>
            </a:endParaRPr>
          </a:p>
          <a:p>
            <a:r>
              <a:rPr lang="en-US" sz="1300" dirty="0">
                <a:solidFill>
                  <a:srgbClr val="2A4A6A"/>
                </a:solidFill>
                <a:latin typeface="Calibri"/>
              </a:rPr>
              <a:t>The plate has a clear rectangular shape is easy to detect.</a:t>
            </a:r>
          </a:p>
          <a:p>
            <a:endParaRPr dirty="0"/>
          </a:p>
          <a:p>
            <a:r>
              <a:rPr lang="en-US" sz="1300" b="0" dirty="0">
                <a:solidFill>
                  <a:srgbClr val="2A4A6A"/>
                </a:solidFill>
                <a:latin typeface="Calibri"/>
              </a:rPr>
              <a:t>Shape filter correctly matches the plate aspect ratio (approx. 4:1 width-to-height).</a:t>
            </a:r>
          </a:p>
          <a:p>
            <a:endParaRPr lang="en-US" sz="1300" b="0" dirty="0">
              <a:solidFill>
                <a:srgbClr val="2A4A6A"/>
              </a:solidFill>
              <a:latin typeface="Calibri"/>
            </a:endParaRPr>
          </a:p>
        </p:txBody>
      </p:sp>
      <p:sp>
        <p:nvSpPr>
          <p:cNvPr id="21" name="Badge"/>
          <p:cNvSpPr>
            <a:spLocks noGrp="1"/>
          </p:cNvSpPr>
          <p:nvPr/>
        </p:nvSpPr>
        <p:spPr>
          <a:xfrm>
            <a:off x="457200" y="4817445"/>
            <a:ext cx="8229600" cy="500000"/>
          </a:xfrm>
          <a:prstGeom prst="rect">
            <a:avLst/>
          </a:prstGeom>
          <a:solidFill>
            <a:srgbClr val="D8EFD8"/>
          </a:solidFill>
          <a:ln w="19050">
            <a:solidFill>
              <a:srgbClr val="2A7A3A"/>
            </a:solidFill>
          </a:ln>
        </p:spPr>
        <p:txBody>
          <a:bodyPr anchor="ctr"/>
          <a:lstStyle/>
          <a:p>
            <a:pPr algn="ctr"/>
            <a:r>
              <a:rPr lang="en-US" sz="1400" b="1" dirty="0">
                <a:solidFill>
                  <a:srgbClr val="2A7A3A"/>
                </a:solidFill>
                <a:latin typeface="Calibri"/>
              </a:rPr>
              <a:t>RESULT: Plate region correctly identified under ideal conditions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D31EF0A-BEB0-7AD7-EFEB-0128A000C1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6200" y="2286000"/>
            <a:ext cx="3225800" cy="1143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4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Bg"/>
          <p:cNvSpPr>
            <a:spLocks noGrp="1"/>
          </p:cNvSpPr>
          <p:nvPr/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D8E8F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 anchor="ctr"/>
          <a:lstStyle/>
          <a:p>
            <a:r>
              <a:rPr lang="en-US" sz="3200" b="1" dirty="0">
                <a:solidFill>
                  <a:srgbClr val="0F2A4A"/>
                </a:solidFill>
                <a:latin typeface="Calibri"/>
              </a:rPr>
              <a:t>Why Classical Vision Fails</a:t>
            </a:r>
          </a:p>
        </p:txBody>
      </p:sp>
      <p:sp>
        <p:nvSpPr>
          <p:cNvPr id="20" name="Lim1"/>
          <p:cNvSpPr>
            <a:spLocks noGrp="1"/>
          </p:cNvSpPr>
          <p:nvPr/>
        </p:nvSpPr>
        <p:spPr>
          <a:xfrm>
            <a:off x="457200" y="1250000"/>
            <a:ext cx="4000000" cy="820000"/>
          </a:xfrm>
          <a:prstGeom prst="rect">
            <a:avLst/>
          </a:prstGeom>
          <a:solidFill>
            <a:srgbClr val="D4E5F5"/>
          </a:solidFill>
          <a:ln w="25400">
            <a:solidFill>
              <a:srgbClr val="B02020"/>
            </a:solidFill>
          </a:ln>
        </p:spPr>
        <p:txBody>
          <a:bodyPr lIns="182880" tIns="91440" bIns="91440" anchor="ctr"/>
          <a:lstStyle/>
          <a:p>
            <a:r>
              <a:rPr lang="en-US" sz="1500" b="1" dirty="0">
                <a:solidFill>
                  <a:srgbClr val="B02020"/>
                </a:solidFill>
                <a:latin typeface="Calibri"/>
              </a:rPr>
              <a:t>Rain &amp; Snow Noise</a:t>
            </a:r>
          </a:p>
          <a:p>
            <a:r>
              <a:rPr lang="en-US" sz="1200" b="0" dirty="0">
                <a:solidFill>
                  <a:srgbClr val="2A4A6A"/>
                </a:solidFill>
                <a:latin typeface="Calibri"/>
              </a:rPr>
              <a:t>Precipitation adds speckle noise that generates false edges, confusing the Canny detector.</a:t>
            </a:r>
          </a:p>
        </p:txBody>
      </p:sp>
      <p:sp>
        <p:nvSpPr>
          <p:cNvPr id="21" name="Lim2"/>
          <p:cNvSpPr>
            <a:spLocks noGrp="1"/>
          </p:cNvSpPr>
          <p:nvPr/>
        </p:nvSpPr>
        <p:spPr>
          <a:xfrm>
            <a:off x="4686000" y="1250000"/>
            <a:ext cx="4000000" cy="820000"/>
          </a:xfrm>
          <a:prstGeom prst="rect">
            <a:avLst/>
          </a:prstGeom>
          <a:solidFill>
            <a:srgbClr val="D4E5F5"/>
          </a:solidFill>
          <a:ln w="25400">
            <a:solidFill>
              <a:srgbClr val="B02020"/>
            </a:solidFill>
          </a:ln>
        </p:spPr>
        <p:txBody>
          <a:bodyPr lIns="182880" tIns="91440" bIns="91440" anchor="ctr"/>
          <a:lstStyle/>
          <a:p>
            <a:r>
              <a:rPr lang="en-US" sz="1500" b="1" dirty="0">
                <a:solidFill>
                  <a:srgbClr val="B02020"/>
                </a:solidFill>
                <a:latin typeface="Calibri"/>
              </a:rPr>
              <a:t>Reflections &amp; Glare</a:t>
            </a:r>
          </a:p>
          <a:p>
            <a:r>
              <a:rPr lang="en-US" sz="1200" b="0" dirty="0">
                <a:solidFill>
                  <a:srgbClr val="2A4A6A"/>
                </a:solidFill>
                <a:latin typeface="Calibri"/>
              </a:rPr>
              <a:t>Headlights and sunlight create bright saturated regions that wash out plate details.</a:t>
            </a:r>
          </a:p>
        </p:txBody>
      </p:sp>
      <p:sp>
        <p:nvSpPr>
          <p:cNvPr id="22" name="Lim3"/>
          <p:cNvSpPr>
            <a:spLocks noGrp="1"/>
          </p:cNvSpPr>
          <p:nvPr/>
        </p:nvSpPr>
        <p:spPr>
          <a:xfrm>
            <a:off x="457200" y="2170000"/>
            <a:ext cx="4000000" cy="820000"/>
          </a:xfrm>
          <a:prstGeom prst="rect">
            <a:avLst/>
          </a:prstGeom>
          <a:solidFill>
            <a:srgbClr val="D4E5F5"/>
          </a:solidFill>
          <a:ln w="25400">
            <a:solidFill>
              <a:srgbClr val="B02020"/>
            </a:solidFill>
          </a:ln>
        </p:spPr>
        <p:txBody>
          <a:bodyPr lIns="182880" tIns="91440" bIns="91440" anchor="ctr"/>
          <a:lstStyle/>
          <a:p>
            <a:r>
              <a:rPr lang="en-US" sz="1500" b="1" dirty="0">
                <a:solidFill>
                  <a:srgbClr val="B02020"/>
                </a:solidFill>
                <a:latin typeface="Calibri"/>
              </a:rPr>
              <a:t>Complex Backgrounds</a:t>
            </a:r>
          </a:p>
          <a:p>
            <a:r>
              <a:rPr lang="en-US" sz="1200" b="0" dirty="0">
                <a:solidFill>
                  <a:srgbClr val="2A4A6A"/>
                </a:solidFill>
                <a:latin typeface="Calibri"/>
              </a:rPr>
              <a:t>Busy scenes with signs, fences, or buildings produce many competing rectangular shapes.</a:t>
            </a:r>
          </a:p>
        </p:txBody>
      </p:sp>
      <p:sp>
        <p:nvSpPr>
          <p:cNvPr id="23" name="Lim4"/>
          <p:cNvSpPr>
            <a:spLocks noGrp="1"/>
          </p:cNvSpPr>
          <p:nvPr/>
        </p:nvSpPr>
        <p:spPr>
          <a:xfrm>
            <a:off x="4686000" y="2170000"/>
            <a:ext cx="4000000" cy="820000"/>
          </a:xfrm>
          <a:prstGeom prst="rect">
            <a:avLst/>
          </a:prstGeom>
          <a:solidFill>
            <a:srgbClr val="D4E5F5"/>
          </a:solidFill>
          <a:ln w="25400">
            <a:solidFill>
              <a:srgbClr val="B02020"/>
            </a:solidFill>
          </a:ln>
        </p:spPr>
        <p:txBody>
          <a:bodyPr lIns="182880" tIns="91440" bIns="91440" anchor="ctr"/>
          <a:lstStyle/>
          <a:p>
            <a:r>
              <a:rPr lang="en-US" sz="1500" b="1" dirty="0">
                <a:solidFill>
                  <a:srgbClr val="B02020"/>
                </a:solidFill>
                <a:latin typeface="Calibri"/>
              </a:rPr>
              <a:t>Similar Shapes (Grille vs Plate)</a:t>
            </a:r>
          </a:p>
          <a:p>
            <a:r>
              <a:rPr lang="en-US" sz="1200" b="0" dirty="0">
                <a:solidFill>
                  <a:srgbClr val="2A4A6A"/>
                </a:solidFill>
                <a:latin typeface="Calibri"/>
              </a:rPr>
              <a:t>Car grilles, bumpers, and stickers have similar geometry that the shape filter cannot distinguish.</a:t>
            </a:r>
          </a:p>
        </p:txBody>
      </p:sp>
      <p:sp>
        <p:nvSpPr>
          <p:cNvPr id="30" name="Core"/>
          <p:cNvSpPr>
            <a:spLocks noGrp="1"/>
          </p:cNvSpPr>
          <p:nvPr/>
        </p:nvSpPr>
        <p:spPr>
          <a:xfrm>
            <a:off x="457200" y="3150000"/>
            <a:ext cx="8229600" cy="620000"/>
          </a:xfrm>
          <a:prstGeom prst="rect">
            <a:avLst/>
          </a:prstGeom>
          <a:solidFill>
            <a:srgbClr val="D8E8F6"/>
          </a:solidFill>
          <a:ln w="19050">
            <a:solidFill>
              <a:srgbClr val="B02020"/>
            </a:solidFill>
          </a:ln>
        </p:spPr>
        <p:txBody>
          <a:bodyPr lIns="228600" anchor="ctr"/>
          <a:lstStyle/>
          <a:p>
            <a:r>
              <a:rPr lang="en-US" sz="1400" b="1" dirty="0">
                <a:solidFill>
                  <a:srgbClr val="B02020"/>
                </a:solidFill>
                <a:latin typeface="Calibri"/>
              </a:rPr>
              <a:t>Core Problem: </a:t>
            </a:r>
            <a:r>
              <a:rPr lang="en-US" sz="1400" b="0" dirty="0">
                <a:solidFill>
                  <a:srgbClr val="2A4A6A"/>
                </a:solidFill>
                <a:latin typeface="Calibri"/>
              </a:rPr>
              <a:t>Hand-crafted rules cannot generalize to the infinite variability of real-world scenes. No learning occurs.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4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Bg"/>
          <p:cNvSpPr>
            <a:spLocks noGrp="1"/>
          </p:cNvSpPr>
          <p:nvPr/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D8E8F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 anchor="ctr"/>
          <a:lstStyle/>
          <a:p>
            <a:r>
              <a:rPr lang="en-US" sz="3200" b="1" dirty="0">
                <a:solidFill>
                  <a:srgbClr val="0F2A4A"/>
                </a:solidFill>
                <a:latin typeface="Calibri"/>
              </a:rPr>
              <a:t>Classical Method — Detection Failure</a:t>
            </a:r>
          </a:p>
        </p:txBody>
      </p:sp>
      <p:pic>
        <p:nvPicPr>
          <p:cNvPr id="3" name="Picture 2" descr="fail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000"/>
            <a:ext cx="4800000" cy="2600000"/>
          </a:xfrm>
          <a:prstGeom prst="rect">
            <a:avLst/>
          </a:prstGeom>
        </p:spPr>
      </p:pic>
      <p:sp>
        <p:nvSpPr>
          <p:cNvPr id="20" name="ExplBox"/>
          <p:cNvSpPr>
            <a:spLocks noGrp="1"/>
          </p:cNvSpPr>
          <p:nvPr/>
        </p:nvSpPr>
        <p:spPr>
          <a:xfrm>
            <a:off x="5486400" y="1280000"/>
            <a:ext cx="3200400" cy="2600000"/>
          </a:xfrm>
          <a:prstGeom prst="rect">
            <a:avLst/>
          </a:prstGeom>
          <a:solidFill>
            <a:srgbClr val="D4E5F5"/>
          </a:solidFill>
          <a:ln w="19050">
            <a:solidFill>
              <a:srgbClr val="B02020"/>
            </a:solidFill>
          </a:ln>
        </p:spPr>
        <p:txBody>
          <a:bodyPr lIns="182880" tIns="182880" rIns="182880" bIns="182880" anchor="t"/>
          <a:lstStyle/>
          <a:p>
            <a:r>
              <a:rPr lang="en-US" sz="1600" b="1" dirty="0">
                <a:solidFill>
                  <a:srgbClr val="B02020"/>
                </a:solidFill>
                <a:latin typeface="Calibri"/>
              </a:rPr>
              <a:t>What Went Wrong</a:t>
            </a:r>
          </a:p>
          <a:p>
            <a:endParaRPr/>
          </a:p>
          <a:p>
            <a:r>
              <a:rPr lang="en-US" sz="1300" b="0" dirty="0">
                <a:solidFill>
                  <a:srgbClr val="2A4A6A"/>
                </a:solidFill>
                <a:latin typeface="Calibri"/>
              </a:rPr>
              <a:t>Challenging conditions (poor lighting, background clutter, or a dirty plate) break the shape-matching assumption.</a:t>
            </a:r>
          </a:p>
          <a:p>
            <a:endParaRPr/>
          </a:p>
          <a:p>
            <a:r>
              <a:rPr lang="en-US" sz="1300" b="0" dirty="0">
                <a:solidFill>
                  <a:srgbClr val="2A4A6A"/>
                </a:solidFill>
                <a:latin typeface="Calibri"/>
              </a:rPr>
              <a:t>The algorithm either detects the wrong region or misses the plate entirely because it has no understanding of the concept of a plate.</a:t>
            </a:r>
          </a:p>
        </p:txBody>
      </p:sp>
      <p:sp>
        <p:nvSpPr>
          <p:cNvPr id="21" name="Badge"/>
          <p:cNvSpPr>
            <a:spLocks noGrp="1"/>
          </p:cNvSpPr>
          <p:nvPr/>
        </p:nvSpPr>
        <p:spPr>
          <a:xfrm>
            <a:off x="457200" y="4050000"/>
            <a:ext cx="8229600" cy="500000"/>
          </a:xfrm>
          <a:prstGeom prst="rect">
            <a:avLst/>
          </a:prstGeom>
          <a:solidFill>
            <a:srgbClr val="D8E8F6"/>
          </a:solidFill>
          <a:ln w="19050">
            <a:solidFill>
              <a:srgbClr val="B02020"/>
            </a:solidFill>
          </a:ln>
        </p:spPr>
        <p:txBody>
          <a:bodyPr anchor="ctr"/>
          <a:lstStyle/>
          <a:p>
            <a:pPr algn="ctr"/>
            <a:r>
              <a:rPr lang="en-US" sz="1400" b="1" dirty="0">
                <a:solidFill>
                  <a:srgbClr val="B02020"/>
                </a:solidFill>
                <a:latin typeface="Calibri"/>
              </a:rPr>
              <a:t>RESULT: Plate not detected — rules too rigid for real-world variation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4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Bg"/>
          <p:cNvSpPr>
            <a:spLocks noGrp="1"/>
          </p:cNvSpPr>
          <p:nvPr/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6B9FD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 anchor="ctr"/>
          <a:lstStyle/>
          <a:p>
            <a:r>
              <a:rPr lang="en-US" sz="3200" b="1" dirty="0">
                <a:solidFill>
                  <a:srgbClr val="0F2A4A"/>
                </a:solidFill>
                <a:latin typeface="Calibri"/>
              </a:rPr>
              <a:t>YOLO Method —&gt; How It Works</a:t>
            </a:r>
          </a:p>
        </p:txBody>
      </p:sp>
      <p:sp>
        <p:nvSpPr>
          <p:cNvPr id="3" name="Intro"/>
          <p:cNvSpPr>
            <a:spLocks noGrp="1"/>
          </p:cNvSpPr>
          <p:nvPr/>
        </p:nvSpPr>
        <p:spPr>
          <a:xfrm>
            <a:off x="457200" y="1317973"/>
            <a:ext cx="8229600" cy="400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r>
              <a:rPr lang="en-US" sz="1400" b="0" dirty="0">
                <a:solidFill>
                  <a:srgbClr val="2A4A6A"/>
                </a:solidFill>
                <a:latin typeface="Calibri"/>
              </a:rPr>
              <a:t>YOLO (You Only Look Once) is a real-time deep learning model that predicts bounding boxes and class labels in a single forward pass. </a:t>
            </a:r>
            <a:r>
              <a:rPr lang="en-US" sz="1400" dirty="0">
                <a:solidFill>
                  <a:srgbClr val="2A4A6A"/>
                </a:solidFill>
                <a:latin typeface="Calibri"/>
              </a:rPr>
              <a:t>YOLO is a deep learning model that learns from data. YOLO is a deep learning model that learns from data. It learns patterns like plate structure, text, and position</a:t>
            </a:r>
            <a:r>
              <a:rPr lang="en-US" dirty="0"/>
              <a:t>.</a:t>
            </a:r>
            <a:endParaRPr lang="en-US" sz="1400" dirty="0">
              <a:solidFill>
                <a:srgbClr val="2A4A6A"/>
              </a:solidFill>
              <a:latin typeface="Calibri"/>
            </a:endParaRPr>
          </a:p>
        </p:txBody>
      </p:sp>
      <p:sp>
        <p:nvSpPr>
          <p:cNvPr id="20" name="Card1"/>
          <p:cNvSpPr>
            <a:spLocks noGrp="1"/>
          </p:cNvSpPr>
          <p:nvPr/>
        </p:nvSpPr>
        <p:spPr>
          <a:xfrm>
            <a:off x="457200" y="2138217"/>
            <a:ext cx="4000000" cy="3000044"/>
          </a:xfrm>
          <a:prstGeom prst="rect">
            <a:avLst/>
          </a:prstGeom>
          <a:solidFill>
            <a:srgbClr val="DDEAF7"/>
          </a:solidFill>
          <a:ln w="19050">
            <a:solidFill>
              <a:srgbClr val="2E6DB4"/>
            </a:solidFill>
          </a:ln>
        </p:spPr>
        <p:txBody>
          <a:bodyPr lIns="182880" tIns="182880" rIns="182880" bIns="182880" anchor="t"/>
          <a:lstStyle/>
          <a:p>
            <a:r>
              <a:rPr lang="en-US" sz="1600" b="1" dirty="0">
                <a:solidFill>
                  <a:srgbClr val="2E6DB4"/>
                </a:solidFill>
                <a:latin typeface="Calibri"/>
              </a:rPr>
              <a:t>How YOLO Learns</a:t>
            </a:r>
          </a:p>
          <a:p>
            <a:endParaRPr dirty="0"/>
          </a:p>
          <a:p>
            <a:r>
              <a:rPr lang="en-US" sz="1300" b="1" dirty="0">
                <a:solidFill>
                  <a:srgbClr val="0F2A4A"/>
                </a:solidFill>
                <a:latin typeface="Calibri"/>
              </a:rPr>
              <a:t>Training Data</a:t>
            </a:r>
          </a:p>
          <a:p>
            <a:r>
              <a:rPr lang="en-US" sz="1200" b="0" dirty="0">
                <a:solidFill>
                  <a:srgbClr val="2A4A6A"/>
                </a:solidFill>
                <a:latin typeface="Calibri"/>
              </a:rPr>
              <a:t>Thousands of labeled images with annotated plate bounding boxes are fed to the network.</a:t>
            </a:r>
          </a:p>
          <a:p>
            <a:endParaRPr dirty="0"/>
          </a:p>
          <a:p>
            <a:r>
              <a:rPr lang="en-US" sz="1300" b="1" dirty="0">
                <a:solidFill>
                  <a:srgbClr val="0F2A4A"/>
                </a:solidFill>
                <a:latin typeface="Calibri"/>
              </a:rPr>
              <a:t>Pattern Recognition</a:t>
            </a:r>
          </a:p>
          <a:p>
            <a:r>
              <a:rPr lang="en-US" sz="1200" b="0" dirty="0">
                <a:solidFill>
                  <a:srgbClr val="2A4A6A"/>
                </a:solidFill>
                <a:latin typeface="Calibri"/>
              </a:rPr>
              <a:t>Convolutional layers automatically learn visual features: edges, shapes, text regions, colour contrasts.</a:t>
            </a:r>
          </a:p>
          <a:p>
            <a:endParaRPr dirty="0"/>
          </a:p>
          <a:p>
            <a:r>
              <a:rPr lang="en-US" sz="1300" b="1" dirty="0">
                <a:solidFill>
                  <a:srgbClr val="0F2A4A"/>
                </a:solidFill>
                <a:latin typeface="Calibri"/>
              </a:rPr>
              <a:t>One Pass Detection</a:t>
            </a:r>
          </a:p>
          <a:p>
            <a:r>
              <a:rPr lang="en-US" sz="1200" b="0" dirty="0">
                <a:solidFill>
                  <a:srgbClr val="2A4A6A"/>
                </a:solidFill>
                <a:latin typeface="Calibri"/>
              </a:rPr>
              <a:t>The entire image is processed at once — no separate region proposals needed, enabling real-time speed.</a:t>
            </a:r>
          </a:p>
        </p:txBody>
      </p:sp>
      <p:sp>
        <p:nvSpPr>
          <p:cNvPr id="21" name="Card2"/>
          <p:cNvSpPr>
            <a:spLocks noGrp="1"/>
          </p:cNvSpPr>
          <p:nvPr/>
        </p:nvSpPr>
        <p:spPr>
          <a:xfrm>
            <a:off x="4686000" y="2138217"/>
            <a:ext cx="4000000" cy="3000044"/>
          </a:xfrm>
          <a:prstGeom prst="rect">
            <a:avLst/>
          </a:prstGeom>
          <a:solidFill>
            <a:srgbClr val="DDEAF7"/>
          </a:solidFill>
          <a:ln w="19050">
            <a:solidFill>
              <a:srgbClr val="2E6DB4"/>
            </a:solidFill>
          </a:ln>
        </p:spPr>
        <p:txBody>
          <a:bodyPr lIns="182880" tIns="182880" rIns="182880" bIns="182880" anchor="t"/>
          <a:lstStyle/>
          <a:p>
            <a:r>
              <a:rPr lang="en-US" sz="1600" b="1" dirty="0">
                <a:solidFill>
                  <a:srgbClr val="2E6DB4"/>
                </a:solidFill>
                <a:latin typeface="Calibri"/>
              </a:rPr>
              <a:t>Key Advantages</a:t>
            </a:r>
          </a:p>
          <a:p>
            <a:endParaRPr dirty="0"/>
          </a:p>
          <a:p>
            <a:r>
              <a:rPr lang="en-US" sz="1300" b="1" dirty="0">
                <a:solidFill>
                  <a:srgbClr val="0F2A4A"/>
                </a:solidFill>
                <a:latin typeface="Calibri"/>
              </a:rPr>
              <a:t>Robust to Variations</a:t>
            </a:r>
          </a:p>
          <a:p>
            <a:r>
              <a:rPr lang="en-US" sz="1200" b="0" dirty="0">
                <a:solidFill>
                  <a:srgbClr val="2A4A6A"/>
                </a:solidFill>
                <a:latin typeface="Calibri"/>
              </a:rPr>
              <a:t>Handles different angles, lighting, weather, and partial occlusions seen during training.</a:t>
            </a:r>
          </a:p>
          <a:p>
            <a:endParaRPr dirty="0"/>
          </a:p>
          <a:p>
            <a:r>
              <a:rPr lang="en-US" sz="1300" b="1" dirty="0">
                <a:solidFill>
                  <a:srgbClr val="0F2A4A"/>
                </a:solidFill>
                <a:latin typeface="Calibri"/>
              </a:rPr>
              <a:t>Confidence Scores</a:t>
            </a:r>
          </a:p>
          <a:p>
            <a:r>
              <a:rPr lang="en-US" sz="1200" b="0" dirty="0">
                <a:solidFill>
                  <a:srgbClr val="2A4A6A"/>
                </a:solidFill>
                <a:latin typeface="Calibri"/>
              </a:rPr>
              <a:t>Each detection comes with a probability score, allowing filtering of low-confidence results.</a:t>
            </a:r>
          </a:p>
          <a:p>
            <a:endParaRPr dirty="0"/>
          </a:p>
          <a:p>
            <a:r>
              <a:rPr lang="en-US" sz="1300" b="1" dirty="0">
                <a:solidFill>
                  <a:srgbClr val="0F2A4A"/>
                </a:solidFill>
                <a:latin typeface="Calibri"/>
              </a:rPr>
              <a:t>Scalable &amp; Improvable</a:t>
            </a:r>
          </a:p>
          <a:p>
            <a:r>
              <a:rPr lang="en-US" sz="1200" b="0" dirty="0">
                <a:solidFill>
                  <a:srgbClr val="2A4A6A"/>
                </a:solidFill>
                <a:latin typeface="Calibri"/>
              </a:rPr>
              <a:t>More training data or fine-tuning directly improves accuracy — no need to rewrite rules.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4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Bg"/>
          <p:cNvSpPr>
            <a:spLocks noGrp="1"/>
          </p:cNvSpPr>
          <p:nvPr/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6B9FD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 anchor="ctr"/>
          <a:lstStyle/>
          <a:p>
            <a:r>
              <a:rPr lang="en-US" sz="3200" b="1" dirty="0">
                <a:solidFill>
                  <a:srgbClr val="0F2A4A"/>
                </a:solidFill>
                <a:latin typeface="Calibri"/>
              </a:rPr>
              <a:t>YOLO Detection — Result 1 — Clear Plate</a:t>
            </a:r>
          </a:p>
        </p:txBody>
      </p:sp>
      <p:pic>
        <p:nvPicPr>
          <p:cNvPr id="3" name="Picture 2" descr="car1_yolo_plate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000"/>
            <a:ext cx="4800000" cy="2200000"/>
          </a:xfrm>
          <a:prstGeom prst="rect">
            <a:avLst/>
          </a:prstGeom>
        </p:spPr>
      </p:pic>
      <p:sp>
        <p:nvSpPr>
          <p:cNvPr id="20" name="ExplBox"/>
          <p:cNvSpPr>
            <a:spLocks noGrp="1"/>
          </p:cNvSpPr>
          <p:nvPr/>
        </p:nvSpPr>
        <p:spPr>
          <a:xfrm>
            <a:off x="5486400" y="1280000"/>
            <a:ext cx="3200400" cy="2200000"/>
          </a:xfrm>
          <a:prstGeom prst="rect">
            <a:avLst/>
          </a:prstGeom>
          <a:solidFill>
            <a:srgbClr val="DDEAF7"/>
          </a:solidFill>
          <a:ln w="19050">
            <a:solidFill>
              <a:srgbClr val="2E6DB4"/>
            </a:solidFill>
          </a:ln>
        </p:spPr>
        <p:txBody>
          <a:bodyPr lIns="182880" tIns="182880" rIns="182880" bIns="182880" anchor="t"/>
          <a:lstStyle/>
          <a:p>
            <a:r>
              <a:rPr lang="en-US" sz="1500" b="1" dirty="0">
                <a:solidFill>
                  <a:srgbClr val="2E6DB4"/>
                </a:solidFill>
                <a:latin typeface="Calibri"/>
              </a:rPr>
              <a:t>What YOLO Detected</a:t>
            </a:r>
          </a:p>
          <a:p>
            <a:endParaRPr/>
          </a:p>
          <a:p>
            <a:r>
              <a:rPr lang="en-US" sz="1300" b="0" dirty="0">
                <a:solidFill>
                  <a:srgbClr val="2A4A6A"/>
                </a:solidFill>
                <a:latin typeface="Calibri"/>
              </a:rPr>
              <a:t>YOLO correctly draws a tight bounding box around the plate even though the full car is visible in frame.</a:t>
            </a:r>
          </a:p>
          <a:p>
            <a:endParaRPr/>
          </a:p>
          <a:p>
            <a:r>
              <a:rPr lang="en-US" sz="1300" b="0" dirty="0">
                <a:solidFill>
                  <a:srgbClr val="2A4A6A"/>
                </a:solidFill>
                <a:latin typeface="Calibri"/>
              </a:rPr>
              <a:t>The model learned that rectangular high-contrast regions with alphanumeric texture correspond to plates.</a:t>
            </a:r>
          </a:p>
        </p:txBody>
      </p:sp>
      <p:sp>
        <p:nvSpPr>
          <p:cNvPr id="21" name="Badge"/>
          <p:cNvSpPr>
            <a:spLocks noGrp="1"/>
          </p:cNvSpPr>
          <p:nvPr/>
        </p:nvSpPr>
        <p:spPr>
          <a:xfrm>
            <a:off x="457200" y="3640000"/>
            <a:ext cx="8229600" cy="480000"/>
          </a:xfrm>
          <a:prstGeom prst="rect">
            <a:avLst/>
          </a:prstGeom>
          <a:solidFill>
            <a:srgbClr val="D8EFD8"/>
          </a:solidFill>
          <a:ln w="19050">
            <a:solidFill>
              <a:srgbClr val="2A7A3A"/>
            </a:solidFill>
          </a:ln>
        </p:spPr>
        <p:txBody>
          <a:bodyPr anchor="ctr"/>
          <a:lstStyle/>
          <a:p>
            <a:pPr algn="ctr"/>
            <a:r>
              <a:rPr lang="en-US" sz="1300" b="1" dirty="0">
                <a:solidFill>
                  <a:srgbClr val="2A7A3A"/>
                </a:solidFill>
                <a:latin typeface="Calibri"/>
              </a:rPr>
              <a:t>RESULT: Plate correctly localised with high confidence bounding box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4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Bg"/>
          <p:cNvSpPr>
            <a:spLocks noGrp="1"/>
          </p:cNvSpPr>
          <p:nvPr/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6B9FD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 anchor="ctr"/>
          <a:lstStyle/>
          <a:p>
            <a:r>
              <a:rPr lang="en-US" sz="3200" b="1" dirty="0">
                <a:solidFill>
                  <a:srgbClr val="0F2A4A"/>
                </a:solidFill>
                <a:latin typeface="Calibri"/>
              </a:rPr>
              <a:t>YOLO Detection — Result 2 — Angled View</a:t>
            </a:r>
          </a:p>
        </p:txBody>
      </p:sp>
      <p:pic>
        <p:nvPicPr>
          <p:cNvPr id="3" name="Picture 2" descr="car2_y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000"/>
            <a:ext cx="4800000" cy="2200000"/>
          </a:xfrm>
          <a:prstGeom prst="rect">
            <a:avLst/>
          </a:prstGeom>
        </p:spPr>
      </p:pic>
      <p:sp>
        <p:nvSpPr>
          <p:cNvPr id="20" name="ExplBox"/>
          <p:cNvSpPr>
            <a:spLocks noGrp="1"/>
          </p:cNvSpPr>
          <p:nvPr/>
        </p:nvSpPr>
        <p:spPr>
          <a:xfrm>
            <a:off x="5486400" y="1280000"/>
            <a:ext cx="3200400" cy="2200000"/>
          </a:xfrm>
          <a:prstGeom prst="rect">
            <a:avLst/>
          </a:prstGeom>
          <a:solidFill>
            <a:srgbClr val="DDEAF7"/>
          </a:solidFill>
          <a:ln w="19050">
            <a:solidFill>
              <a:srgbClr val="2E6DB4"/>
            </a:solidFill>
          </a:ln>
        </p:spPr>
        <p:txBody>
          <a:bodyPr lIns="182880" tIns="182880" rIns="182880" bIns="182880" anchor="t"/>
          <a:lstStyle/>
          <a:p>
            <a:r>
              <a:rPr lang="en-US" sz="1500" b="1" dirty="0">
                <a:solidFill>
                  <a:srgbClr val="2E6DB4"/>
                </a:solidFill>
                <a:latin typeface="Calibri"/>
              </a:rPr>
              <a:t>What YOLO Detected</a:t>
            </a:r>
          </a:p>
          <a:p>
            <a:endParaRPr/>
          </a:p>
          <a:p>
            <a:r>
              <a:rPr lang="en-US" sz="1300" b="0" dirty="0">
                <a:solidFill>
                  <a:srgbClr val="2A4A6A"/>
                </a:solidFill>
                <a:latin typeface="Calibri"/>
              </a:rPr>
              <a:t>YOLO detects the plate on a vehicle viewed from a slight angle, which would confuse classical aspect-ratio filters.</a:t>
            </a:r>
          </a:p>
          <a:p>
            <a:endParaRPr/>
          </a:p>
          <a:p>
            <a:r>
              <a:rPr lang="en-US" sz="1300" b="0" dirty="0">
                <a:solidFill>
                  <a:srgbClr val="2A4A6A"/>
                </a:solidFill>
                <a:latin typeface="Calibri"/>
              </a:rPr>
              <a:t>Perspective-invariant features learned during training allow robust detection regardless of camera angle.</a:t>
            </a:r>
          </a:p>
        </p:txBody>
      </p:sp>
      <p:sp>
        <p:nvSpPr>
          <p:cNvPr id="21" name="Badge"/>
          <p:cNvSpPr>
            <a:spLocks noGrp="1"/>
          </p:cNvSpPr>
          <p:nvPr/>
        </p:nvSpPr>
        <p:spPr>
          <a:xfrm>
            <a:off x="457200" y="3640000"/>
            <a:ext cx="8229600" cy="480000"/>
          </a:xfrm>
          <a:prstGeom prst="rect">
            <a:avLst/>
          </a:prstGeom>
          <a:solidFill>
            <a:srgbClr val="D8EFD8"/>
          </a:solidFill>
          <a:ln w="19050">
            <a:solidFill>
              <a:srgbClr val="2A7A3A"/>
            </a:solidFill>
          </a:ln>
        </p:spPr>
        <p:txBody>
          <a:bodyPr anchor="ctr"/>
          <a:lstStyle/>
          <a:p>
            <a:pPr algn="ctr"/>
            <a:r>
              <a:rPr lang="en-US" sz="1300" b="1" dirty="0">
                <a:solidFill>
                  <a:srgbClr val="2A7A3A"/>
                </a:solidFill>
                <a:latin typeface="Calibri"/>
              </a:rPr>
              <a:t>RESULT: Plate correctly localised with high confidence bounding box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4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Bg"/>
          <p:cNvSpPr>
            <a:spLocks noGrp="1"/>
          </p:cNvSpPr>
          <p:nvPr/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6B9FD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 anchor="ctr"/>
          <a:lstStyle/>
          <a:p>
            <a:r>
              <a:rPr lang="en-US" sz="3200" b="1" dirty="0">
                <a:solidFill>
                  <a:srgbClr val="0F2A4A"/>
                </a:solidFill>
                <a:latin typeface="Calibri"/>
              </a:rPr>
              <a:t>YOLO Detection — Result 3 — Low Contrast Scene</a:t>
            </a:r>
          </a:p>
        </p:txBody>
      </p:sp>
      <p:pic>
        <p:nvPicPr>
          <p:cNvPr id="3" name="Picture 2" descr="car3_y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000"/>
            <a:ext cx="4800000" cy="2200000"/>
          </a:xfrm>
          <a:prstGeom prst="rect">
            <a:avLst/>
          </a:prstGeom>
        </p:spPr>
      </p:pic>
      <p:sp>
        <p:nvSpPr>
          <p:cNvPr id="20" name="ExplBox"/>
          <p:cNvSpPr>
            <a:spLocks noGrp="1"/>
          </p:cNvSpPr>
          <p:nvPr/>
        </p:nvSpPr>
        <p:spPr>
          <a:xfrm>
            <a:off x="5486400" y="1280000"/>
            <a:ext cx="3200400" cy="2200000"/>
          </a:xfrm>
          <a:prstGeom prst="rect">
            <a:avLst/>
          </a:prstGeom>
          <a:solidFill>
            <a:srgbClr val="DDEAF7"/>
          </a:solidFill>
          <a:ln w="19050">
            <a:solidFill>
              <a:srgbClr val="2E6DB4"/>
            </a:solidFill>
          </a:ln>
        </p:spPr>
        <p:txBody>
          <a:bodyPr lIns="182880" tIns="182880" rIns="182880" bIns="182880" anchor="t"/>
          <a:lstStyle/>
          <a:p>
            <a:r>
              <a:rPr lang="en-US" sz="1500" b="1" dirty="0">
                <a:solidFill>
                  <a:srgbClr val="2E6DB4"/>
                </a:solidFill>
                <a:latin typeface="Calibri"/>
              </a:rPr>
              <a:t>What YOLO Detected</a:t>
            </a:r>
          </a:p>
          <a:p>
            <a:endParaRPr/>
          </a:p>
          <a:p>
            <a:r>
              <a:rPr lang="en-US" sz="1300" b="0" dirty="0">
                <a:solidFill>
                  <a:srgbClr val="2A4A6A"/>
                </a:solidFill>
                <a:latin typeface="Calibri"/>
              </a:rPr>
              <a:t>The plate is detected despite challenging background clutter and reduced contrast between plate and bodywork.</a:t>
            </a:r>
          </a:p>
          <a:p>
            <a:endParaRPr/>
          </a:p>
          <a:p>
            <a:r>
              <a:rPr lang="en-US" sz="1300" b="0" dirty="0">
                <a:solidFill>
                  <a:srgbClr val="2A4A6A"/>
                </a:solidFill>
                <a:latin typeface="Calibri"/>
              </a:rPr>
              <a:t>Deep feature maps capture semantic context — the model understands where a plate should appear on a vehicle.</a:t>
            </a:r>
          </a:p>
        </p:txBody>
      </p:sp>
      <p:sp>
        <p:nvSpPr>
          <p:cNvPr id="21" name="Badge"/>
          <p:cNvSpPr>
            <a:spLocks noGrp="1"/>
          </p:cNvSpPr>
          <p:nvPr/>
        </p:nvSpPr>
        <p:spPr>
          <a:xfrm>
            <a:off x="457200" y="3640000"/>
            <a:ext cx="8229600" cy="480000"/>
          </a:xfrm>
          <a:prstGeom prst="rect">
            <a:avLst/>
          </a:prstGeom>
          <a:solidFill>
            <a:srgbClr val="D8EFD8"/>
          </a:solidFill>
          <a:ln w="19050">
            <a:solidFill>
              <a:srgbClr val="2A7A3A"/>
            </a:solidFill>
          </a:ln>
        </p:spPr>
        <p:txBody>
          <a:bodyPr anchor="ctr"/>
          <a:lstStyle/>
          <a:p>
            <a:pPr algn="ctr"/>
            <a:r>
              <a:rPr lang="en-US" sz="1300" b="1" dirty="0">
                <a:solidFill>
                  <a:srgbClr val="2A7A3A"/>
                </a:solidFill>
                <a:latin typeface="Calibri"/>
              </a:rPr>
              <a:t>RESULT: Plate correctly localised with high confidence bounding box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4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Bg"/>
          <p:cNvSpPr>
            <a:spLocks noGrp="1"/>
          </p:cNvSpPr>
          <p:nvPr/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6B9FD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 anchor="ctr"/>
          <a:lstStyle/>
          <a:p>
            <a:r>
              <a:rPr lang="en-US" sz="3200" b="1" dirty="0">
                <a:solidFill>
                  <a:srgbClr val="0F2A4A"/>
                </a:solidFill>
                <a:latin typeface="Calibri"/>
              </a:rPr>
              <a:t>YOLO Detection — Result 4 — Different Plate Style</a:t>
            </a:r>
          </a:p>
        </p:txBody>
      </p:sp>
      <p:pic>
        <p:nvPicPr>
          <p:cNvPr id="3" name="Picture 2" descr="car4_y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000"/>
            <a:ext cx="4800000" cy="2200000"/>
          </a:xfrm>
          <a:prstGeom prst="rect">
            <a:avLst/>
          </a:prstGeom>
        </p:spPr>
      </p:pic>
      <p:sp>
        <p:nvSpPr>
          <p:cNvPr id="20" name="ExplBox"/>
          <p:cNvSpPr>
            <a:spLocks noGrp="1"/>
          </p:cNvSpPr>
          <p:nvPr/>
        </p:nvSpPr>
        <p:spPr>
          <a:xfrm>
            <a:off x="5486400" y="1280000"/>
            <a:ext cx="3200400" cy="2200000"/>
          </a:xfrm>
          <a:prstGeom prst="rect">
            <a:avLst/>
          </a:prstGeom>
          <a:solidFill>
            <a:srgbClr val="DDEAF7"/>
          </a:solidFill>
          <a:ln w="19050">
            <a:solidFill>
              <a:srgbClr val="2E6DB4"/>
            </a:solidFill>
          </a:ln>
        </p:spPr>
        <p:txBody>
          <a:bodyPr lIns="182880" tIns="182880" rIns="182880" bIns="182880" anchor="t"/>
          <a:lstStyle/>
          <a:p>
            <a:r>
              <a:rPr lang="en-US" sz="1500" b="1" dirty="0">
                <a:solidFill>
                  <a:srgbClr val="2E6DB4"/>
                </a:solidFill>
                <a:latin typeface="Calibri"/>
              </a:rPr>
              <a:t>What YOLO Detected</a:t>
            </a:r>
          </a:p>
          <a:p>
            <a:endParaRPr/>
          </a:p>
          <a:p>
            <a:r>
              <a:rPr lang="en-US" sz="1300" b="0" dirty="0">
                <a:solidFill>
                  <a:srgbClr val="2A4A6A"/>
                </a:solidFill>
                <a:latin typeface="Calibri"/>
              </a:rPr>
              <a:t>YOLO generalises to a different plate format and font, demonstrating cross-domain robustness.</a:t>
            </a:r>
          </a:p>
          <a:p>
            <a:endParaRPr/>
          </a:p>
          <a:p>
            <a:r>
              <a:rPr lang="en-US" sz="1300" b="0" dirty="0">
                <a:solidFill>
                  <a:srgbClr val="2A4A6A"/>
                </a:solidFill>
                <a:latin typeface="Calibri"/>
              </a:rPr>
              <a:t>Having been trained on diverse plate styles, the model is not limited to one country or character set.</a:t>
            </a:r>
          </a:p>
        </p:txBody>
      </p:sp>
      <p:sp>
        <p:nvSpPr>
          <p:cNvPr id="21" name="Badge"/>
          <p:cNvSpPr>
            <a:spLocks noGrp="1"/>
          </p:cNvSpPr>
          <p:nvPr/>
        </p:nvSpPr>
        <p:spPr>
          <a:xfrm>
            <a:off x="457200" y="3640000"/>
            <a:ext cx="8229600" cy="480000"/>
          </a:xfrm>
          <a:prstGeom prst="rect">
            <a:avLst/>
          </a:prstGeom>
          <a:solidFill>
            <a:srgbClr val="D8EFD8"/>
          </a:solidFill>
          <a:ln w="19050">
            <a:solidFill>
              <a:srgbClr val="2A7A3A"/>
            </a:solidFill>
          </a:ln>
        </p:spPr>
        <p:txBody>
          <a:bodyPr anchor="ctr"/>
          <a:lstStyle/>
          <a:p>
            <a:pPr algn="ctr"/>
            <a:r>
              <a:rPr lang="en-US" sz="1300" b="1" dirty="0">
                <a:solidFill>
                  <a:srgbClr val="2A7A3A"/>
                </a:solidFill>
                <a:latin typeface="Calibri"/>
              </a:rPr>
              <a:t>RESULT: Plate correctly localised with high confidence bounding box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4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Bg"/>
          <p:cNvSpPr>
            <a:spLocks noGrp="1"/>
          </p:cNvSpPr>
          <p:nvPr/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6B9FD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 anchor="ctr"/>
          <a:lstStyle/>
          <a:p>
            <a:r>
              <a:rPr lang="en-US" sz="3200" b="1" dirty="0">
                <a:solidFill>
                  <a:srgbClr val="0F2A4A"/>
                </a:solidFill>
                <a:latin typeface="Calibri"/>
              </a:rPr>
              <a:t>Classical vs YOLO — Side-by-Side Comparison</a:t>
            </a:r>
          </a:p>
        </p:txBody>
      </p:sp>
      <p:sp>
        <p:nvSpPr>
          <p:cNvPr id="11" name="ColA"/>
          <p:cNvSpPr>
            <a:spLocks noGrp="1"/>
          </p:cNvSpPr>
          <p:nvPr/>
        </p:nvSpPr>
        <p:spPr>
          <a:xfrm>
            <a:off x="457200" y="1230000"/>
            <a:ext cx="3700000" cy="480000"/>
          </a:xfrm>
          <a:prstGeom prst="rect">
            <a:avLst/>
          </a:prstGeom>
          <a:solidFill>
            <a:srgbClr val="4A82BE"/>
          </a:solidFill>
          <a:ln>
            <a:noFill/>
          </a:ln>
        </p:spPr>
        <p:txBody>
          <a:bodyPr anchor="ctr"/>
          <a:lstStyle/>
          <a:p>
            <a:pPr algn="ctr"/>
            <a:r>
              <a:rPr lang="en-US" sz="1800" b="1" dirty="0">
                <a:solidFill>
                  <a:srgbClr val="2A4A6A"/>
                </a:solidFill>
                <a:latin typeface="Calibri"/>
              </a:rPr>
              <a:t>Classical CV</a:t>
            </a:r>
          </a:p>
        </p:txBody>
      </p:sp>
      <p:sp>
        <p:nvSpPr>
          <p:cNvPr id="12" name="ColB"/>
          <p:cNvSpPr>
            <a:spLocks noGrp="1"/>
          </p:cNvSpPr>
          <p:nvPr/>
        </p:nvSpPr>
        <p:spPr>
          <a:xfrm>
            <a:off x="4986000" y="1230000"/>
            <a:ext cx="3700000" cy="480000"/>
          </a:xfrm>
          <a:prstGeom prst="rect">
            <a:avLst/>
          </a:prstGeom>
          <a:solidFill>
            <a:srgbClr val="D8EFD8"/>
          </a:solidFill>
          <a:ln>
            <a:noFill/>
          </a:ln>
        </p:spPr>
        <p:txBody>
          <a:bodyPr anchor="ctr"/>
          <a:lstStyle/>
          <a:p>
            <a:pPr algn="ctr"/>
            <a:r>
              <a:rPr lang="en-US" sz="1800" b="1" dirty="0">
                <a:solidFill>
                  <a:srgbClr val="2E6DB4"/>
                </a:solidFill>
                <a:latin typeface="Calibri"/>
              </a:rPr>
              <a:t>YOLO Deep Learning</a:t>
            </a:r>
          </a:p>
        </p:txBody>
      </p:sp>
      <p:sp>
        <p:nvSpPr>
          <p:cNvPr id="20" name="R1A"/>
          <p:cNvSpPr>
            <a:spLocks noGrp="1"/>
          </p:cNvSpPr>
          <p:nvPr/>
        </p:nvSpPr>
        <p:spPr>
          <a:xfrm>
            <a:off x="457200" y="1800000"/>
            <a:ext cx="3700000" cy="620000"/>
          </a:xfrm>
          <a:prstGeom prst="rect">
            <a:avLst/>
          </a:prstGeom>
          <a:solidFill>
            <a:srgbClr val="DDEAF7"/>
          </a:solidFill>
          <a:ln w="12700">
            <a:solidFill>
              <a:srgbClr val="4A82BE"/>
            </a:solidFill>
          </a:ln>
        </p:spPr>
        <p:txBody>
          <a:bodyPr lIns="182880" tIns="91440" anchor="ctr"/>
          <a:lstStyle/>
          <a:p>
            <a:r>
              <a:rPr lang="en-US" sz="1300" b="1" dirty="0">
                <a:solidFill>
                  <a:srgbClr val="0F2A4A"/>
                </a:solidFill>
                <a:latin typeface="Calibri"/>
              </a:rPr>
              <a:t>Speed: </a:t>
            </a:r>
            <a:r>
              <a:rPr lang="en-US" sz="1300" b="0" dirty="0">
                <a:solidFill>
                  <a:srgbClr val="2A7A3A"/>
                </a:solidFill>
                <a:latin typeface="Calibri"/>
              </a:rPr>
              <a:t>Very Fast (no GPU needed) </a:t>
            </a:r>
            <a:r>
              <a:rPr lang="en-US" sz="1300" dirty="0">
                <a:solidFill>
                  <a:srgbClr val="2A7A3A"/>
                </a:solidFill>
                <a:latin typeface="Calibri"/>
              </a:rPr>
              <a:t>but only works in simple conditions.</a:t>
            </a:r>
          </a:p>
        </p:txBody>
      </p:sp>
      <p:sp>
        <p:nvSpPr>
          <p:cNvPr id="21" name="R1B"/>
          <p:cNvSpPr>
            <a:spLocks noGrp="1"/>
          </p:cNvSpPr>
          <p:nvPr/>
        </p:nvSpPr>
        <p:spPr>
          <a:xfrm>
            <a:off x="4986000" y="1800000"/>
            <a:ext cx="3700000" cy="620000"/>
          </a:xfrm>
          <a:prstGeom prst="rect">
            <a:avLst/>
          </a:prstGeom>
          <a:solidFill>
            <a:srgbClr val="D8E8F6"/>
          </a:solidFill>
          <a:ln w="12700">
            <a:solidFill>
              <a:srgbClr val="D8EFD8"/>
            </a:solidFill>
          </a:ln>
        </p:spPr>
        <p:txBody>
          <a:bodyPr lIns="182880" tIns="91440" anchor="ctr"/>
          <a:lstStyle/>
          <a:p>
            <a:r>
              <a:rPr lang="en-US" sz="1300" b="1" dirty="0">
                <a:solidFill>
                  <a:srgbClr val="0F2A4A"/>
                </a:solidFill>
                <a:latin typeface="Calibri"/>
              </a:rPr>
              <a:t>Speed: </a:t>
            </a:r>
            <a:r>
              <a:rPr lang="en-US" sz="1300" b="0" dirty="0">
                <a:solidFill>
                  <a:srgbClr val="2A7A3A"/>
                </a:solidFill>
                <a:latin typeface="Calibri"/>
              </a:rPr>
              <a:t>Real-time (GPU accelerated) </a:t>
            </a:r>
            <a:r>
              <a:rPr lang="en-US" sz="1300" dirty="0">
                <a:solidFill>
                  <a:srgbClr val="2A7A3A"/>
                </a:solidFill>
                <a:latin typeface="Calibri"/>
              </a:rPr>
              <a:t>YOLO is more robust and works across different scenarios.</a:t>
            </a:r>
          </a:p>
        </p:txBody>
      </p:sp>
      <p:sp>
        <p:nvSpPr>
          <p:cNvPr id="22" name="R2A"/>
          <p:cNvSpPr>
            <a:spLocks noGrp="1"/>
          </p:cNvSpPr>
          <p:nvPr/>
        </p:nvSpPr>
        <p:spPr>
          <a:xfrm>
            <a:off x="457200" y="2510000"/>
            <a:ext cx="3700000" cy="620000"/>
          </a:xfrm>
          <a:prstGeom prst="rect">
            <a:avLst/>
          </a:prstGeom>
          <a:solidFill>
            <a:srgbClr val="DDEAF7"/>
          </a:solidFill>
          <a:ln w="12700">
            <a:solidFill>
              <a:srgbClr val="4A82BE"/>
            </a:solidFill>
          </a:ln>
        </p:spPr>
        <p:txBody>
          <a:bodyPr lIns="182880" tIns="91440" anchor="ctr"/>
          <a:lstStyle/>
          <a:p>
            <a:r>
              <a:rPr lang="en-US" sz="1300" b="1" dirty="0">
                <a:solidFill>
                  <a:srgbClr val="0F2A4A"/>
                </a:solidFill>
                <a:latin typeface="Calibri"/>
              </a:rPr>
              <a:t>Accuracy: </a:t>
            </a:r>
            <a:r>
              <a:rPr lang="en-US" sz="1300" b="0" dirty="0">
                <a:solidFill>
                  <a:srgbClr val="B06000"/>
                </a:solidFill>
                <a:latin typeface="Calibri"/>
              </a:rPr>
              <a:t>Good in ideal conditions only</a:t>
            </a:r>
          </a:p>
        </p:txBody>
      </p:sp>
      <p:sp>
        <p:nvSpPr>
          <p:cNvPr id="23" name="R2B"/>
          <p:cNvSpPr>
            <a:spLocks noGrp="1"/>
          </p:cNvSpPr>
          <p:nvPr/>
        </p:nvSpPr>
        <p:spPr>
          <a:xfrm>
            <a:off x="4986000" y="2510000"/>
            <a:ext cx="3700000" cy="620000"/>
          </a:xfrm>
          <a:prstGeom prst="rect">
            <a:avLst/>
          </a:prstGeom>
          <a:solidFill>
            <a:srgbClr val="D8E8F6"/>
          </a:solidFill>
          <a:ln w="12700">
            <a:solidFill>
              <a:srgbClr val="D8EFD8"/>
            </a:solidFill>
          </a:ln>
        </p:spPr>
        <p:txBody>
          <a:bodyPr lIns="182880" tIns="91440" anchor="ctr"/>
          <a:lstStyle/>
          <a:p>
            <a:r>
              <a:rPr lang="en-US" sz="1300" b="1" dirty="0">
                <a:solidFill>
                  <a:srgbClr val="0F2A4A"/>
                </a:solidFill>
                <a:latin typeface="Calibri"/>
              </a:rPr>
              <a:t>Accuracy: </a:t>
            </a:r>
            <a:r>
              <a:rPr lang="en-US" sz="1300" b="0" dirty="0">
                <a:solidFill>
                  <a:srgbClr val="2A7A3A"/>
                </a:solidFill>
                <a:latin typeface="Calibri"/>
              </a:rPr>
              <a:t>High across diverse conditions</a:t>
            </a:r>
          </a:p>
        </p:txBody>
      </p:sp>
      <p:sp>
        <p:nvSpPr>
          <p:cNvPr id="24" name="R3A"/>
          <p:cNvSpPr>
            <a:spLocks noGrp="1"/>
          </p:cNvSpPr>
          <p:nvPr/>
        </p:nvSpPr>
        <p:spPr>
          <a:xfrm>
            <a:off x="457200" y="3220000"/>
            <a:ext cx="3700000" cy="620000"/>
          </a:xfrm>
          <a:prstGeom prst="rect">
            <a:avLst/>
          </a:prstGeom>
          <a:solidFill>
            <a:srgbClr val="DDEAF7"/>
          </a:solidFill>
          <a:ln w="12700">
            <a:solidFill>
              <a:srgbClr val="4A82BE"/>
            </a:solidFill>
          </a:ln>
        </p:spPr>
        <p:txBody>
          <a:bodyPr lIns="182880" tIns="91440" anchor="ctr"/>
          <a:lstStyle/>
          <a:p>
            <a:r>
              <a:rPr lang="en-US" sz="1300" b="1" dirty="0">
                <a:solidFill>
                  <a:srgbClr val="0F2A4A"/>
                </a:solidFill>
                <a:latin typeface="Calibri"/>
              </a:rPr>
              <a:t>Robustness: </a:t>
            </a:r>
            <a:r>
              <a:rPr lang="en-US" sz="1300" b="0" dirty="0">
                <a:solidFill>
                  <a:srgbClr val="B02020"/>
                </a:solidFill>
                <a:latin typeface="Calibri"/>
              </a:rPr>
              <a:t>Fails with noise, glare, clutter</a:t>
            </a:r>
          </a:p>
        </p:txBody>
      </p:sp>
      <p:sp>
        <p:nvSpPr>
          <p:cNvPr id="25" name="R3B"/>
          <p:cNvSpPr>
            <a:spLocks noGrp="1"/>
          </p:cNvSpPr>
          <p:nvPr/>
        </p:nvSpPr>
        <p:spPr>
          <a:xfrm>
            <a:off x="4986000" y="3220000"/>
            <a:ext cx="3700000" cy="620000"/>
          </a:xfrm>
          <a:prstGeom prst="rect">
            <a:avLst/>
          </a:prstGeom>
          <a:solidFill>
            <a:srgbClr val="D8E8F6"/>
          </a:solidFill>
          <a:ln w="12700">
            <a:solidFill>
              <a:srgbClr val="D8EFD8"/>
            </a:solidFill>
          </a:ln>
        </p:spPr>
        <p:txBody>
          <a:bodyPr lIns="182880" tIns="91440" anchor="ctr"/>
          <a:lstStyle/>
          <a:p>
            <a:r>
              <a:rPr lang="en-US" sz="1300" b="1" dirty="0">
                <a:solidFill>
                  <a:srgbClr val="0F2A4A"/>
                </a:solidFill>
                <a:latin typeface="Calibri"/>
              </a:rPr>
              <a:t>Robustness: </a:t>
            </a:r>
            <a:r>
              <a:rPr lang="en-US" sz="1300" b="0" dirty="0">
                <a:solidFill>
                  <a:srgbClr val="2A7A3A"/>
                </a:solidFill>
                <a:latin typeface="Calibri"/>
              </a:rPr>
              <a:t>Handles angles, weather, occlusion</a:t>
            </a:r>
          </a:p>
        </p:txBody>
      </p:sp>
      <p:sp>
        <p:nvSpPr>
          <p:cNvPr id="26" name="R4A"/>
          <p:cNvSpPr>
            <a:spLocks noGrp="1"/>
          </p:cNvSpPr>
          <p:nvPr/>
        </p:nvSpPr>
        <p:spPr>
          <a:xfrm>
            <a:off x="457200" y="3930000"/>
            <a:ext cx="3700000" cy="620000"/>
          </a:xfrm>
          <a:prstGeom prst="rect">
            <a:avLst/>
          </a:prstGeom>
          <a:solidFill>
            <a:srgbClr val="DDEAF7"/>
          </a:solidFill>
          <a:ln w="12700">
            <a:solidFill>
              <a:srgbClr val="4A82BE"/>
            </a:solidFill>
          </a:ln>
        </p:spPr>
        <p:txBody>
          <a:bodyPr lIns="182880" tIns="91440" anchor="ctr"/>
          <a:lstStyle/>
          <a:p>
            <a:r>
              <a:rPr lang="en-US" sz="1300" b="1" dirty="0">
                <a:solidFill>
                  <a:srgbClr val="0F2A4A"/>
                </a:solidFill>
                <a:latin typeface="Calibri"/>
              </a:rPr>
              <a:t>Setup: </a:t>
            </a:r>
            <a:r>
              <a:rPr lang="en-US" sz="1300" b="0" dirty="0">
                <a:solidFill>
                  <a:srgbClr val="2A7A3A"/>
                </a:solidFill>
                <a:latin typeface="Calibri"/>
              </a:rPr>
              <a:t>No training data required</a:t>
            </a:r>
          </a:p>
        </p:txBody>
      </p:sp>
      <p:sp>
        <p:nvSpPr>
          <p:cNvPr id="27" name="R4B"/>
          <p:cNvSpPr>
            <a:spLocks noGrp="1"/>
          </p:cNvSpPr>
          <p:nvPr/>
        </p:nvSpPr>
        <p:spPr>
          <a:xfrm>
            <a:off x="4986000" y="3930000"/>
            <a:ext cx="3700000" cy="620000"/>
          </a:xfrm>
          <a:prstGeom prst="rect">
            <a:avLst/>
          </a:prstGeom>
          <a:solidFill>
            <a:srgbClr val="D8E8F6"/>
          </a:solidFill>
          <a:ln w="12700">
            <a:solidFill>
              <a:srgbClr val="D8EFD8"/>
            </a:solidFill>
          </a:ln>
        </p:spPr>
        <p:txBody>
          <a:bodyPr lIns="182880" tIns="91440" anchor="ctr"/>
          <a:lstStyle/>
          <a:p>
            <a:r>
              <a:rPr lang="en-US" sz="1300" b="1" dirty="0">
                <a:solidFill>
                  <a:srgbClr val="0F2A4A"/>
                </a:solidFill>
                <a:latin typeface="Calibri"/>
              </a:rPr>
              <a:t>Setup: </a:t>
            </a:r>
            <a:r>
              <a:rPr lang="en-US" sz="1300" b="0" dirty="0">
                <a:solidFill>
                  <a:srgbClr val="B06000"/>
                </a:solidFill>
                <a:latin typeface="Calibri"/>
              </a:rPr>
              <a:t>Requires labeled dataset + training</a:t>
            </a:r>
          </a:p>
        </p:txBody>
      </p:sp>
      <p:sp>
        <p:nvSpPr>
          <p:cNvPr id="30" name="Divider"/>
          <p:cNvSpPr>
            <a:spLocks noGrp="1"/>
          </p:cNvSpPr>
          <p:nvPr/>
        </p:nvSpPr>
        <p:spPr>
          <a:xfrm>
            <a:off x="4386000" y="1230000"/>
            <a:ext cx="100000" cy="3320000"/>
          </a:xfrm>
          <a:prstGeom prst="rect">
            <a:avLst/>
          </a:prstGeom>
          <a:solidFill>
            <a:srgbClr val="2E6DB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D42AAC3-15AD-BAFD-0832-44F134F40AD0}"/>
              </a:ext>
            </a:extLst>
          </p:cNvPr>
          <p:cNvSpPr txBox="1"/>
          <p:nvPr/>
        </p:nvSpPr>
        <p:spPr>
          <a:xfrm>
            <a:off x="864614" y="5128627"/>
            <a:ext cx="78213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u="sng" dirty="0"/>
              <a:t>The key difference is that classical uses rules, while YOLO learns from data.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4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ccentBar"/>
          <p:cNvSpPr>
            <a:spLocks noGrp="1"/>
          </p:cNvSpPr>
          <p:nvPr/>
        </p:nvSpPr>
        <p:spPr>
          <a:xfrm>
            <a:off x="457200" y="800000"/>
            <a:ext cx="91440" cy="4000000"/>
          </a:xfrm>
          <a:prstGeom prst="rect">
            <a:avLst/>
          </a:prstGeom>
          <a:solidFill>
            <a:srgbClr val="2E6DB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800000"/>
            <a:ext cx="8000000" cy="800000"/>
          </a:xfrm>
        </p:spPr>
        <p:txBody>
          <a:bodyPr anchor="ctr"/>
          <a:lstStyle/>
          <a:p>
            <a:r>
              <a:rPr lang="en-US" sz="3800" b="1" dirty="0">
                <a:solidFill>
                  <a:srgbClr val="0F2A4A"/>
                </a:solidFill>
                <a:latin typeface="Calibri"/>
              </a:rPr>
              <a:t>Conclusion</a:t>
            </a:r>
          </a:p>
        </p:txBody>
      </p:sp>
      <p:sp>
        <p:nvSpPr>
          <p:cNvPr id="20" name="F1"/>
          <p:cNvSpPr>
            <a:spLocks noGrp="1"/>
          </p:cNvSpPr>
          <p:nvPr/>
        </p:nvSpPr>
        <p:spPr>
          <a:xfrm>
            <a:off x="685800" y="1750000"/>
            <a:ext cx="8000000" cy="780000"/>
          </a:xfrm>
          <a:prstGeom prst="rect">
            <a:avLst/>
          </a:prstGeom>
          <a:solidFill>
            <a:srgbClr val="DDEAF7"/>
          </a:solidFill>
          <a:ln w="19050">
            <a:solidFill>
              <a:srgbClr val="2E6DB4"/>
            </a:solidFill>
          </a:ln>
        </p:spPr>
        <p:txBody>
          <a:bodyPr lIns="228600" tIns="91440" bIns="91440" anchor="ctr"/>
          <a:lstStyle/>
          <a:p>
            <a:r>
              <a:rPr lang="en-US" sz="1500" b="1" dirty="0">
                <a:solidFill>
                  <a:srgbClr val="2E6DB4"/>
                </a:solidFill>
                <a:latin typeface="Calibri"/>
              </a:rPr>
              <a:t>01 </a:t>
            </a:r>
            <a:r>
              <a:rPr lang="en-US" sz="1400" b="0" dirty="0">
                <a:solidFill>
                  <a:srgbClr val="2A4A6A"/>
                </a:solidFill>
                <a:latin typeface="Calibri"/>
              </a:rPr>
              <a:t>Classical methods work under controlled conditions but are fundamentally limited by hand-crafted rules that cannot adapt to the real world.</a:t>
            </a:r>
          </a:p>
        </p:txBody>
      </p:sp>
      <p:sp>
        <p:nvSpPr>
          <p:cNvPr id="21" name="F2"/>
          <p:cNvSpPr>
            <a:spLocks noGrp="1"/>
          </p:cNvSpPr>
          <p:nvPr/>
        </p:nvSpPr>
        <p:spPr>
          <a:xfrm>
            <a:off x="685800" y="2620000"/>
            <a:ext cx="8000000" cy="780000"/>
          </a:xfrm>
          <a:prstGeom prst="rect">
            <a:avLst/>
          </a:prstGeom>
          <a:solidFill>
            <a:srgbClr val="DDEAF7"/>
          </a:solidFill>
          <a:ln w="19050">
            <a:solidFill>
              <a:srgbClr val="2E6DB4"/>
            </a:solidFill>
          </a:ln>
        </p:spPr>
        <p:txBody>
          <a:bodyPr lIns="228600" tIns="91440" bIns="91440" anchor="ctr"/>
          <a:lstStyle/>
          <a:p>
            <a:r>
              <a:rPr lang="en-US" sz="1500" b="1" dirty="0">
                <a:solidFill>
                  <a:srgbClr val="2E6DB4"/>
                </a:solidFill>
                <a:latin typeface="Calibri"/>
              </a:rPr>
              <a:t>02 </a:t>
            </a:r>
            <a:r>
              <a:rPr lang="en-US" sz="1400" b="0" dirty="0">
                <a:solidFill>
                  <a:srgbClr val="2A4A6A"/>
                </a:solidFill>
                <a:latin typeface="Calibri"/>
              </a:rPr>
              <a:t>YOLO consistently outperforms classical CV by learning visual patterns from data, making it robust to noise, angles, occlusions, and lighting variations.</a:t>
            </a:r>
          </a:p>
        </p:txBody>
      </p:sp>
      <p:sp>
        <p:nvSpPr>
          <p:cNvPr id="22" name="F3"/>
          <p:cNvSpPr>
            <a:spLocks noGrp="1"/>
          </p:cNvSpPr>
          <p:nvPr/>
        </p:nvSpPr>
        <p:spPr>
          <a:xfrm>
            <a:off x="594360" y="3763599"/>
            <a:ext cx="8000000" cy="780001"/>
          </a:xfrm>
          <a:prstGeom prst="rect">
            <a:avLst/>
          </a:prstGeom>
          <a:solidFill>
            <a:srgbClr val="6B9FD4"/>
          </a:solidFill>
          <a:ln w="19050">
            <a:solidFill>
              <a:srgbClr val="2A7A3A"/>
            </a:solidFill>
          </a:ln>
        </p:spPr>
        <p:txBody>
          <a:bodyPr lIns="228600" tIns="91440" bIns="91440" anchor="ctr"/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400" dirty="0">
                <a:solidFill>
                  <a:srgbClr val="000000"/>
                </a:solidFill>
                <a:latin typeface="Arial" panose="020B0604020202020204" pitchFamily="34" charset="0"/>
              </a:rPr>
              <a:t>Classical methods rely on handcrafted rules, while YOLO learns patterns from data, making it more robust in real-world conditions.</a:t>
            </a:r>
            <a:endParaRPr lang="en-US" altLang="en-US" sz="1400" dirty="0">
              <a:latin typeface="Arial" panose="020B0604020202020204" pitchFamily="34" charset="0"/>
            </a:endParaRPr>
          </a:p>
        </p:txBody>
      </p:sp>
      <p:sp>
        <p:nvSpPr>
          <p:cNvPr id="30" name="Footer"/>
          <p:cNvSpPr>
            <a:spLocks noGrp="1"/>
          </p:cNvSpPr>
          <p:nvPr/>
        </p:nvSpPr>
        <p:spPr>
          <a:xfrm>
            <a:off x="0" y="5943600"/>
            <a:ext cx="9144000" cy="457200"/>
          </a:xfrm>
          <a:prstGeom prst="rect">
            <a:avLst/>
          </a:prstGeom>
          <a:solidFill>
            <a:srgbClr val="6B9FD4"/>
          </a:solidFill>
          <a:ln>
            <a:noFill/>
          </a:ln>
        </p:spPr>
        <p:txBody>
          <a:bodyPr anchor="ctr"/>
          <a:lstStyle/>
          <a:p>
            <a:pPr algn="ctr"/>
            <a:r>
              <a:rPr lang="en-US" sz="1200" b="0" dirty="0">
                <a:solidFill>
                  <a:srgbClr val="2E6DB4"/>
                </a:solidFill>
                <a:latin typeface="Calibri"/>
              </a:rPr>
              <a:t>Hamida Hagverdiyeva  |  License Plate Detection Project  |  Classical CV vs YOLO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192</TotalTime>
  <Words>1086</Words>
  <Application>Microsoft Macintosh PowerPoint</Application>
  <PresentationFormat>On-screen Show (4:3)</PresentationFormat>
  <Paragraphs>121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Arial</vt:lpstr>
      <vt:lpstr>Calibri</vt:lpstr>
      <vt:lpstr>Office Theme</vt:lpstr>
      <vt:lpstr>License Plate Detection Project</vt:lpstr>
      <vt:lpstr>Project Objective</vt:lpstr>
      <vt:lpstr>Classical Method —&gt; How It Works</vt:lpstr>
      <vt:lpstr>Classical Method — Successful Detection</vt:lpstr>
      <vt:lpstr>Why Classical Vision Fails</vt:lpstr>
      <vt:lpstr>Classical Method — Detection Failure</vt:lpstr>
      <vt:lpstr>YOLO Method —&gt; How It Works</vt:lpstr>
      <vt:lpstr>YOLO Detection — Result 1 — Clear Plate</vt:lpstr>
      <vt:lpstr>YOLO Detection — Result 2 — Angled View</vt:lpstr>
      <vt:lpstr>YOLO Detection — Result 3 — Low Contrast Scene</vt:lpstr>
      <vt:lpstr>YOLO Detection — Result 4 — Different Plate Style</vt:lpstr>
      <vt:lpstr>Classical vs YOLO — Side-by-Side Comparison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Hagverdiyeva, Hamida</cp:lastModifiedBy>
  <cp:revision>4</cp:revision>
  <dcterms:created xsi:type="dcterms:W3CDTF">2013-01-27T09:14:16Z</dcterms:created>
  <dcterms:modified xsi:type="dcterms:W3CDTF">2026-04-20T12:30:08Z</dcterms:modified>
  <cp:category/>
</cp:coreProperties>
</file>